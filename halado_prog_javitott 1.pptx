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B7394-2C16-2E24-91F2-AB03C1C29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123021A-DEF1-5145-4D02-10954E168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D23EAD-B66B-4744-E5E0-86B4C3C5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DBDFEDA-2457-E15A-EF06-F790C347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6C13FB-D647-4F64-0A62-FDDDEC26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968681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7D7815-050A-C0FD-85C2-3923CDBA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42A622-E2C3-3F95-27CA-D436945B3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8B9845-C4BE-502A-2760-24E40AF8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1948C27-BF92-E847-45EC-9DD072EF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0B1E05-8521-3C5D-59BD-4AF1F449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86202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5E072A-CA16-ED6C-4F2A-FBD1D050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A93107-12E8-8943-E45E-A5B10C470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6A7B973-1F01-274E-9C21-98E4985C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0E86A6-B63C-42CA-1B34-33035AFD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1C4A76A-FF81-D0E8-FD50-B10CFDDB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760345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7CE775-4AE8-C028-3F53-B6D12BCB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E7E6B6-5611-38AD-F561-B375CDF5B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CEE6BF-89FD-152E-658E-670212A27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2821CB0-95BC-3FA0-2045-E05E6CC5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C90A26C-CB0C-C79E-0CD9-18E8C1A9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4383655-57FB-ED2D-18F9-B70726FC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627153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9E150-6194-272C-5D36-FCF73BD6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56E4A4-58FC-A910-5107-02C32BFFD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DFC1B22-67A3-FC92-AE1B-5D7C948FC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53C1E04-A256-7C1B-8F02-5DAA9ABE8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F6CCDA-6B1D-0C65-FEAC-7FE0134702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C6B624A-33FB-FD4C-6D25-A682317B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014C50F-28AE-B226-28E5-B16BFD62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21D2E03-5811-8825-A601-A49254F6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274521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52C8E9-F243-0940-BEC1-53F510ED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8181132-43D5-9FA8-EF94-616A66C8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C202708-CBE1-C2B7-EB44-5B2F4EE9F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97131D2-581B-119B-60E3-552D7241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476572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AA99D7B-98D0-3D06-B9C1-4D3667A8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E52F1B1-0378-1C1E-585E-DFC1B689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A143E8E-F64B-677F-5068-98BDA6DF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28580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4EA554-96CC-3ACA-C96A-52539CED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EF723B-BED0-AEFE-6DE5-52F2C55FD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C043AAB-DD31-0CF7-5874-E3352C527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01E665A-9E21-7654-C1FE-98763F59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4FB2897-C662-DE4D-9D03-E9898546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E9FC625-1E06-5009-BB3C-D012AFE6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94469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DA9AE8-D475-DED5-8392-1AC1304E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ECA423D-3CA2-F7EB-3EAE-D62E43DC1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F69249C-9546-279C-5D39-367375D1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05DEDAB-EAB9-4AFC-24AB-69D332FA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320A80-CA96-7D1C-80ED-A7DB2EB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40B1E72-2FBE-140E-550A-05F94F1F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962412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0CB817-59ED-124A-06DB-7FA6AACC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FFC3FFB-515D-4AAD-5D01-9AB690D1C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CC8D53-D950-E3D1-AE3C-D661F2EA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3903FB-DFA1-C781-6069-D0957528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C546D1-A09C-DCA7-3375-CF53738B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110435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1B4C0BB-970B-8945-DC78-AEAA228DD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E6BCBEF-7F20-9187-FA23-F7877DD11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888F11E-59FA-7E05-B488-DEC1B9B5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EDD075-BCDB-1F14-9A8F-97244AD8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911674-350B-9C08-45D8-9222804A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68172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6112A5A-6A04-2D03-2D4B-DF03BF0B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1C79334-8466-2E8F-5D70-E9186C9E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E7B753-52EC-099F-9A85-4786BCBE0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01D47-43BF-1444-9278-9D937FE5BB2F}" type="datetimeFigureOut">
              <a:rPr lang="hu-HU" smtClean="0"/>
              <a:t>2025. 12. 10.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A302B6-1906-DC6E-B4B1-C0FAAF544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969AFB-4051-62EB-7A39-28BBC1E76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D9C0A-D80B-744D-B720-94C8073FEB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074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-pillow-tutorial/" TargetMode="External"/><Relationship Id="rId2" Type="http://schemas.openxmlformats.org/officeDocument/2006/relationships/hyperlink" Target="https://realpython.com/image-processing-with-the-python-pillow-libra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mini.google.com/?hl=hu" TargetMode="External"/><Relationship Id="rId5" Type="http://schemas.openxmlformats.org/officeDocument/2006/relationships/hyperlink" Target="https://pillow.readthedocs.io/en/stable/" TargetMode="External"/><Relationship Id="rId4" Type="http://schemas.openxmlformats.org/officeDocument/2006/relationships/hyperlink" Target="https://stackoverflow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4E21947-2D99-272F-21A9-5DD33DFF4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Haladó programozás nagyfeladat dokumentáció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0486D35-668D-5CCB-EB08-F684125F7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dirty="0"/>
              <a:t>Takács Milán, Czégány Viktor</a:t>
            </a:r>
          </a:p>
        </p:txBody>
      </p:sp>
    </p:spTree>
    <p:extLst>
      <p:ext uri="{BB962C8B-B14F-4D97-AF65-F5344CB8AC3E}">
        <p14:creationId xmlns:p14="http://schemas.microsoft.com/office/powerpoint/2010/main" val="28177770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7061F4A-2906-AB61-143E-8BC76DC1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A program áttekintése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DCAC3C-22CD-19FE-D3CD-DFF24073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900" b="1" i="0" u="none" strike="noStrike">
                <a:effectLst/>
              </a:rPr>
              <a:t>A csoportmunka célja </a:t>
            </a:r>
            <a:r>
              <a:rPr lang="hu-HU" sz="1900" b="0" i="0" u="none" strike="noStrike">
                <a:effectLst/>
              </a:rPr>
              <a:t>egy olyan Python alapú alkalmazás létrehozása volt, amely képes képek módosítására parancssoros felületen keresztül. A program képes egyszerre több fényképet is szerkeszteni.</a:t>
            </a:r>
          </a:p>
          <a:p>
            <a:r>
              <a:rPr lang="hu-HU" sz="1900" b="1" i="0" u="none" strike="noStrike">
                <a:effectLst/>
              </a:rPr>
              <a:t>Főbb funkciók:</a:t>
            </a:r>
            <a:endParaRPr lang="hu-HU" sz="1900" b="0" i="0" u="none" strike="noStrike">
              <a:effectLst/>
            </a:endParaRPr>
          </a:p>
          <a:p>
            <a:pPr lvl="1"/>
            <a:r>
              <a:rPr lang="hu-HU" sz="1900" b="1" i="0" u="none" strike="noStrike">
                <a:effectLst/>
              </a:rPr>
              <a:t>Geometriai transzformációk:</a:t>
            </a:r>
            <a:r>
              <a:rPr lang="hu-HU" sz="1900" b="0" i="0" u="none" strike="noStrike">
                <a:effectLst/>
              </a:rPr>
              <a:t> Képek átméretezése, elforgatása tetszőleges szöggel, valamint képrészletek kivágása (crop).</a:t>
            </a:r>
          </a:p>
          <a:p>
            <a:pPr lvl="1"/>
            <a:r>
              <a:rPr lang="hu-HU" sz="1900" b="1" i="0" u="none" strike="noStrike">
                <a:effectLst/>
              </a:rPr>
              <a:t>Színkezelés:</a:t>
            </a:r>
            <a:r>
              <a:rPr lang="hu-HU" sz="1900" b="0" i="0" u="none" strike="noStrike">
                <a:effectLst/>
              </a:rPr>
              <a:t> Szürkeárnyalatos konverzió (grayscale), fényerő és kontraszt állítása.</a:t>
            </a:r>
          </a:p>
          <a:p>
            <a:pPr lvl="1"/>
            <a:r>
              <a:rPr lang="hu-HU" sz="1900" b="1" i="0" u="none" strike="noStrike">
                <a:effectLst/>
              </a:rPr>
              <a:t>Szűrők és effektek:</a:t>
            </a:r>
            <a:r>
              <a:rPr lang="hu-HU" sz="1900" b="0" i="0" u="none" strike="noStrike">
                <a:effectLst/>
              </a:rPr>
              <a:t> Élesítés (sharpen) funkció.</a:t>
            </a:r>
          </a:p>
          <a:p>
            <a:pPr lvl="1"/>
            <a:r>
              <a:rPr lang="hu-HU" sz="1900" b="1" i="0" u="none" strike="noStrike">
                <a:effectLst/>
              </a:rPr>
              <a:t>Vízjelezés:</a:t>
            </a:r>
            <a:r>
              <a:rPr lang="hu-HU" sz="1900" b="0" i="0" u="none" strike="noStrike">
                <a:effectLst/>
              </a:rPr>
              <a:t> Szöveg elhelyezése a képen választható pozícióban (sarkok), méretben és színben.</a:t>
            </a:r>
          </a:p>
          <a:p>
            <a:pPr lvl="1"/>
            <a:r>
              <a:rPr lang="hu-HU" sz="1900" b="1" i="0" u="none" strike="noStrike">
                <a:effectLst/>
              </a:rPr>
              <a:t>Fájlkezelés:</a:t>
            </a:r>
            <a:r>
              <a:rPr lang="hu-HU" sz="1900" b="0" i="0" u="none" strike="noStrike">
                <a:effectLst/>
              </a:rPr>
              <a:t> Kimeneti mappa automatikus létrehozása és az eredeti fájlok védelme (nem írjuk felül az eredetit).</a:t>
            </a:r>
          </a:p>
          <a:p>
            <a:endParaRPr lang="hu-HU" sz="1900"/>
          </a:p>
        </p:txBody>
      </p:sp>
    </p:spTree>
    <p:extLst>
      <p:ext uri="{BB962C8B-B14F-4D97-AF65-F5344CB8AC3E}">
        <p14:creationId xmlns:p14="http://schemas.microsoft.com/office/powerpoint/2010/main" val="227916804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AD15AA8-110A-38B7-611C-368E724C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projekt felépítése és a felhasznált könyvtárak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9FFFC7-7642-5CA1-B795-0E21D76A0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400" b="1" i="0" u="none" strike="noStrike">
                <a:effectLst/>
              </a:rPr>
              <a:t>Szöveges tartalom:</a:t>
            </a:r>
            <a:r>
              <a:rPr lang="hu-HU" sz="1400" b="0" i="0" u="none" strike="noStrike">
                <a:effectLst/>
              </a:rPr>
              <a:t> A fejlesztés során törekedtünk a </a:t>
            </a:r>
            <a:r>
              <a:rPr lang="hu-HU" sz="1400"/>
              <a:t>követhető </a:t>
            </a:r>
            <a:r>
              <a:rPr lang="hu-HU" sz="1400" b="0" i="0" u="none" strike="noStrike">
                <a:effectLst/>
              </a:rPr>
              <a:t>és a logikus fájlszerkezetre. A projekt két fő Python fájlból és a hozzájuk tartozó adatkönyvtárakból áll.</a:t>
            </a:r>
          </a:p>
          <a:p>
            <a:r>
              <a:rPr lang="hu-HU" sz="1400" b="1" i="0" u="none" strike="noStrike">
                <a:effectLst/>
              </a:rPr>
              <a:t>Könyvtárszerkezet:</a:t>
            </a:r>
            <a:endParaRPr lang="hu-HU" sz="14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main.py:</a:t>
            </a:r>
            <a:r>
              <a:rPr lang="hu-HU" sz="1400" b="0" i="0" u="none" strike="noStrike">
                <a:effectLst/>
              </a:rPr>
              <a:t> A fő belépési pont, ez kezeli a felhasználóval való kommunikációt.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processor.py:</a:t>
            </a:r>
            <a:r>
              <a:rPr lang="hu-HU" sz="1400" b="0" i="0" u="none" strike="noStrike">
                <a:effectLst/>
              </a:rPr>
              <a:t> A háttérlogikát tartalmazza, itt történik a képek tényleges módosítása.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kepek_bemenet:</a:t>
            </a:r>
            <a:r>
              <a:rPr lang="hu-HU" sz="1400" b="0" i="0" u="none" strike="noStrike">
                <a:effectLst/>
              </a:rPr>
              <a:t> A forrásfájlok tárolási helye.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1" i="0" u="none" strike="noStrike">
                <a:effectLst/>
              </a:rPr>
              <a:t>kepek_kimenet:</a:t>
            </a:r>
            <a:r>
              <a:rPr lang="hu-HU" sz="1400" b="0" i="0" u="none" strike="noStrike">
                <a:effectLst/>
              </a:rPr>
              <a:t> A program ide menti a módosított képeket.</a:t>
            </a:r>
          </a:p>
          <a:p>
            <a:r>
              <a:rPr lang="hu-HU" sz="1400" b="1" i="0" u="none" strike="noStrike">
                <a:effectLst/>
              </a:rPr>
              <a:t>Technikai háttér:</a:t>
            </a:r>
            <a:r>
              <a:rPr lang="hu-HU" sz="1400" b="0" i="0" u="none" strike="noStrike">
                <a:effectLst/>
              </a:rPr>
              <a:t> A program a Python egyik legnépszerűbb képkezelő könyvtárára, a </a:t>
            </a:r>
            <a:r>
              <a:rPr lang="hu-HU" sz="1400" b="1" i="0" u="none" strike="noStrike">
                <a:effectLst/>
              </a:rPr>
              <a:t>Pillow-ra (PIL)</a:t>
            </a:r>
            <a:r>
              <a:rPr lang="hu-HU" sz="1400" b="0" i="0" u="none" strike="noStrike">
                <a:effectLst/>
              </a:rPr>
              <a:t> épül.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0" i="0" u="none" strike="noStrike">
                <a:effectLst/>
              </a:rPr>
              <a:t>Használt modulok: Image (betöltés/mentés), ImageEnhance (fényerő/kontraszt), ImageFilter (szűrők), ImageDrawés ImageFont (szövegírás).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400" b="0" i="0" u="none" strike="noStrike">
                <a:effectLst/>
              </a:rPr>
              <a:t>Az operációs rendszerrel való fájlkezelést az os beépített modul végzi.</a:t>
            </a:r>
          </a:p>
          <a:p>
            <a:endParaRPr lang="hu-HU" sz="1400"/>
          </a:p>
        </p:txBody>
      </p:sp>
    </p:spTree>
    <p:extLst>
      <p:ext uri="{BB962C8B-B14F-4D97-AF65-F5344CB8AC3E}">
        <p14:creationId xmlns:p14="http://schemas.microsoft.com/office/powerpoint/2010/main" val="19633093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006A63-5D9D-5830-4E14-421F284D9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Felhasználói interakció és konfiguráció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B705B0-B32D-1789-2F00-77BDDC11E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000" b="1" i="0" u="none" strike="noStrike">
                <a:effectLst/>
              </a:rPr>
              <a:t>Szöveges tartalom:</a:t>
            </a:r>
            <a:r>
              <a:rPr lang="hu-HU" sz="2000" b="0" i="0" u="none" strike="noStrike">
                <a:effectLst/>
              </a:rPr>
              <a:t> A main.py felelős azért, hogy bekérje a felhasználótól a módosítási paramétereket. Ezt a get_config() függvény valósítja meg.</a:t>
            </a:r>
          </a:p>
          <a:p>
            <a:r>
              <a:rPr lang="hu-HU" sz="2000" b="1" i="0" u="none" strike="noStrike">
                <a:effectLst/>
              </a:rPr>
              <a:t>Működési elv:</a:t>
            </a:r>
            <a:endParaRPr lang="hu-HU" sz="20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 program kérdéseket tesz fel a konzolon (pl. "Legyen szurke?", "Forgatas fokban?").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 beérkező válaszokat ellenőrzi, és megfelelő típusra alakítja (pl. szöveget számmá, az "igen" választ logikai igaz értékké).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0" i="0" u="none" strike="noStrike">
                <a:effectLst/>
              </a:rPr>
              <a:t>Az összes beállítást egyetlen Python szótárba (config dictionary) gyűjti össze.</a:t>
            </a:r>
          </a:p>
          <a:p>
            <a:r>
              <a:rPr lang="hu-HU" sz="2000" b="1" i="0" u="none" strike="noStrike">
                <a:effectLst/>
              </a:rPr>
              <a:t>Miért hasznos ez?</a:t>
            </a:r>
            <a:r>
              <a:rPr lang="hu-HU" sz="2000" b="0" i="0" u="none" strike="noStrike">
                <a:effectLst/>
              </a:rPr>
              <a:t> Ezzel a megoldással a beállítások könnyen átadhatók a feldolgozó függvényeknek anélkül, hogy tucatnyi külön paramétert kellene kezelnünk minden függvényhívásnál.</a:t>
            </a:r>
          </a:p>
          <a:p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24879738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6F3825-4046-4124-C7CD-4DA891D1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fő vezérlő logika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96004E-41A2-D885-A29E-C14E192F1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000" b="1" i="0" u="none" strike="noStrike">
                <a:effectLst/>
              </a:rPr>
              <a:t>Szöveges tartalom:</a:t>
            </a:r>
            <a:r>
              <a:rPr lang="hu-HU" sz="2000" b="0" i="0" u="none" strike="noStrike">
                <a:effectLst/>
              </a:rPr>
              <a:t> A main() függvény a program "agya", amely eldönti, hogy milyen módban fusson az alkalmazás.</a:t>
            </a:r>
          </a:p>
          <a:p>
            <a:r>
              <a:rPr lang="hu-HU" sz="2000" b="1" i="0" u="none" strike="noStrike">
                <a:effectLst/>
              </a:rPr>
              <a:t>A három feldolgozási mód:</a:t>
            </a:r>
            <a:endParaRPr lang="hu-HU" sz="2000" b="0" i="0" u="none" strike="noStrike">
              <a:effectLst/>
            </a:endParaRP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Egy kép:</a:t>
            </a:r>
            <a:r>
              <a:rPr lang="hu-HU" sz="2000" b="0" i="0" u="none" strike="noStrike">
                <a:effectLst/>
              </a:rPr>
              <a:t> Bekéri a fájl elérési útját, és meghívja rá a modify_image függvényt.</a:t>
            </a: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Több kép:</a:t>
            </a:r>
            <a:r>
              <a:rPr lang="hu-HU" sz="2000" b="0" i="0" u="none" strike="noStrike">
                <a:effectLst/>
              </a:rPr>
              <a:t> Egy vesszővel elválasztott listát vár a felhasználótól, amit feldarabol, majd a process_multiple_images segítségével végigmegy rajtuk.</a:t>
            </a:r>
          </a:p>
          <a:p>
            <a:pPr>
              <a:buFont typeface="+mj-lt"/>
              <a:buAutoNum type="arabicPeriod"/>
            </a:pPr>
            <a:r>
              <a:rPr lang="hu-HU" sz="2000" b="1" i="0" u="none" strike="noStrike">
                <a:effectLst/>
              </a:rPr>
              <a:t>Mappa:</a:t>
            </a:r>
            <a:r>
              <a:rPr lang="hu-HU" sz="2000" b="0" i="0" u="none" strike="noStrike">
                <a:effectLst/>
              </a:rPr>
              <a:t> Egy teljes könyvtár nevét kéri be, és átadja a process_folder függvénynek.</a:t>
            </a:r>
          </a:p>
          <a:p>
            <a:r>
              <a:rPr lang="hu-HU" sz="2000" b="0" i="0" u="none" strike="noStrike">
                <a:effectLst/>
              </a:rPr>
              <a:t>A kód **config szintaxis használatával bontja ki a korábban létrehozott beállítási szótárat, így dinamikusan adja át a paramétereket a feldolgozó modulnak.</a:t>
            </a:r>
          </a:p>
          <a:p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58565465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12C197E-2020-CCE8-7942-C3EBBF4E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A képmódosító motor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4E5048-FB76-DD86-5034-6D5F58DF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700" b="1" i="0" u="none" strike="noStrike">
                <a:effectLst/>
              </a:rPr>
              <a:t>Szöveges tartalom:</a:t>
            </a:r>
            <a:r>
              <a:rPr lang="hu-HU" sz="1700" b="0" i="0" u="none" strike="noStrike">
                <a:effectLst/>
              </a:rPr>
              <a:t> A processor.py fájlban található modify_image függvény végzi a munka oroszlánrészét. Ez a függvény nyitja meg a képet és hajtja végre rajta a kért módosításokat sorrendben.</a:t>
            </a:r>
          </a:p>
          <a:p>
            <a:r>
              <a:rPr lang="hu-HU" sz="1700" b="1" i="0" u="none" strike="noStrike">
                <a:effectLst/>
              </a:rPr>
              <a:t>A feldolgozási lánc: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Megnyitás:</a:t>
            </a:r>
            <a:r>
              <a:rPr lang="hu-HU" sz="1700" b="0" i="0" u="none" strike="noStrike">
                <a:effectLst/>
              </a:rPr>
              <a:t> Image.open() környezetkezelővel (with statement), ami biztosítja a fájl helyes lezárását.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Feltételes módosítások:</a:t>
            </a:r>
            <a:r>
              <a:rPr lang="hu-HU" sz="1700" b="0" i="0" u="none" strike="noStrike">
                <a:effectLst/>
              </a:rPr>
              <a:t> Csak akkor hajt végre egy műveletet, ha az szerepel a beállításokban (pl. ha a rotate_angle nem 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Sorrend:</a:t>
            </a:r>
            <a:r>
              <a:rPr lang="hu-HU" sz="1700" b="0" i="0" u="none" strike="noStrike">
                <a:effectLst/>
              </a:rPr>
              <a:t> Először a geometriai változtatások történnek (méretezés, vágás), utána a színmanipulációk, végül a feliratozás.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1" i="0" u="none" strike="noStrike">
                <a:effectLst/>
              </a:rPr>
              <a:t>Mentés:</a:t>
            </a:r>
            <a:r>
              <a:rPr lang="hu-HU" sz="1700" b="0" i="0" u="none" strike="noStrike">
                <a:effectLst/>
              </a:rPr>
              <a:t> A kimeneti fájl nevét automatikusan generálja a _modositott utótaggal, és létrehozza a célmappát, ha az még nem létezne.</a:t>
            </a:r>
          </a:p>
          <a:p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15746858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0F3415-009A-DDF6-1BFD-3643849E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b="0" i="0" u="none" strike="noStrike">
                <a:solidFill>
                  <a:srgbClr val="FFFFFF"/>
                </a:solidFill>
                <a:effectLst/>
              </a:rPr>
              <a:t>Szövegezés és tömeges feldolgozás</a:t>
            </a:r>
            <a:endParaRPr lang="hu-HU" sz="4000">
              <a:solidFill>
                <a:srgbClr val="FFFFFF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8DB88D-59C3-2F0C-8336-6A1EFD0BA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1700" b="1" i="0" u="none" strike="noStrike">
                <a:effectLst/>
              </a:rPr>
              <a:t>Szöveges tartalom:</a:t>
            </a:r>
            <a:r>
              <a:rPr lang="hu-HU" sz="1700" b="0" i="0" u="none" strike="noStrike">
                <a:effectLst/>
              </a:rPr>
              <a:t> A processor.py tartalmazza a segédfüggvényeket is, amelyek a speciálisabb feladatokat látják el.</a:t>
            </a:r>
          </a:p>
          <a:p>
            <a:r>
              <a:rPr lang="hu-HU" sz="1700" b="1" i="0" u="none" strike="noStrike">
                <a:effectLst/>
              </a:rPr>
              <a:t>Szöveg elhelyezése (add_text):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szöveg méretét a textbbox metódussal számoljuk ki, így pontosan meg tudjuk határozni a helyét.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pozicionálás (bal felül, jobb alul, stb.) koordináta-számítással történik a kép és a szöveg méretei alapján.</a:t>
            </a:r>
          </a:p>
          <a:p>
            <a:r>
              <a:rPr lang="hu-HU" sz="1700" b="1" i="0" u="none" strike="noStrike">
                <a:effectLst/>
              </a:rPr>
              <a:t>Mappák kezelése (process_folder):</a:t>
            </a:r>
            <a:endParaRPr lang="hu-HU" sz="1700" b="0" i="0" u="none" strike="noStrike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A függvény végigiterál a megadott mappa tartalmán (os.listdir).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Szűrést végez a kiterjesztés alapján: csak a támogatott formátumokat (jpg, png, bmp) veszi figyelembe, így elkerüli a hibákat, ha a mappában más típusú fájlok is vannak.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700" b="0" i="0" u="none" strike="noStrike">
                <a:effectLst/>
              </a:rPr>
              <a:t>Minden talált képre külön meghívja a már bemutatott modify_image függvényt.</a:t>
            </a:r>
          </a:p>
          <a:p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202152003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C589352-55E1-F5D7-2C5D-FFD926DA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AE144C-4B68-2BC2-73C7-E0D5D7D10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400" dirty="0"/>
              <a:t>Felhasznált szakirodalmak és források:</a:t>
            </a:r>
          </a:p>
          <a:p>
            <a:pPr lvl="1">
              <a:lnSpc>
                <a:spcPct val="125000"/>
              </a:lnSpc>
            </a:pPr>
            <a:r>
              <a:rPr lang="hu-HU" sz="2000" dirty="0">
                <a:hlinkClick r:id="rId2"/>
              </a:rPr>
              <a:t>https://realpython.com/image-processing-with-the-python-pillow-library/</a:t>
            </a:r>
            <a:endParaRPr lang="hu-HU" sz="2000" dirty="0"/>
          </a:p>
          <a:p>
            <a:pPr lvl="1">
              <a:lnSpc>
                <a:spcPct val="125000"/>
              </a:lnSpc>
            </a:pPr>
            <a:r>
              <a:rPr lang="hu-HU" sz="2000" dirty="0">
                <a:hlinkClick r:id="rId3"/>
              </a:rPr>
              <a:t>https://www.geeksforgeeks.org/python-pillow-tutorial/</a:t>
            </a:r>
            <a:endParaRPr lang="hu-HU" sz="2000" dirty="0"/>
          </a:p>
          <a:p>
            <a:pPr lvl="1">
              <a:lnSpc>
                <a:spcPct val="125000"/>
              </a:lnSpc>
            </a:pPr>
            <a:r>
              <a:rPr lang="hu-HU" sz="2000" dirty="0">
                <a:hlinkClick r:id="rId4"/>
              </a:rPr>
              <a:t>https://stackoverflow.com/</a:t>
            </a:r>
            <a:endParaRPr lang="hu-HU" sz="2000" dirty="0"/>
          </a:p>
          <a:p>
            <a:pPr lvl="1">
              <a:lnSpc>
                <a:spcPct val="125000"/>
              </a:lnSpc>
            </a:pPr>
            <a:r>
              <a:rPr lang="hu-HU" sz="2000" dirty="0">
                <a:hlinkClick r:id="rId5"/>
              </a:rPr>
              <a:t>https://pillow.readthedocs.io/en/stable/</a:t>
            </a:r>
            <a:endParaRPr lang="hu-HU" sz="2000" dirty="0"/>
          </a:p>
          <a:p>
            <a:pPr lvl="1">
              <a:lnSpc>
                <a:spcPct val="125000"/>
              </a:lnSpc>
            </a:pPr>
            <a:r>
              <a:rPr lang="hu-HU" sz="2000">
                <a:hlinkClick r:id="rId6"/>
              </a:rPr>
              <a:t>https://gemini.google.com/?hl=hu</a:t>
            </a:r>
            <a:endParaRPr lang="hu-HU" sz="2000" dirty="0"/>
          </a:p>
          <a:p>
            <a:pPr lvl="1"/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23841083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3707AD-8261-4357-9C64-EEC41E83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5" y="-427"/>
            <a:ext cx="6086683" cy="6858428"/>
          </a:xfrm>
          <a:prstGeom prst="rect">
            <a:avLst/>
          </a:prstGeom>
          <a:gradFill>
            <a:gsLst>
              <a:gs pos="0">
                <a:srgbClr val="000000">
                  <a:alpha val="53000"/>
                </a:srgbClr>
              </a:gs>
              <a:gs pos="82000">
                <a:schemeClr val="accent1">
                  <a:lumMod val="75000"/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98142"/>
            <a:ext cx="12191999" cy="6359430"/>
          </a:xfrm>
          <a:prstGeom prst="rect">
            <a:avLst/>
          </a:prstGeom>
          <a:gradFill>
            <a:gsLst>
              <a:gs pos="13000">
                <a:schemeClr val="accent1">
                  <a:lumMod val="75000"/>
                  <a:alpha val="39000"/>
                </a:schemeClr>
              </a:gs>
              <a:gs pos="100000">
                <a:srgbClr val="000000">
                  <a:alpha val="32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39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01BE8-EBAB-4286-84CC-EC07C7F95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40037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B810725C-984E-4EC2-A5FA-A193878C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59729" y="-716753"/>
            <a:ext cx="4893880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811B3CB-E118-5DFC-443E-2FB28BB5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199" y="3115264"/>
            <a:ext cx="7457441" cy="2863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626196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806</Words>
  <Application>Microsoft Office PowerPoint</Application>
  <PresentationFormat>Szélesvásznú</PresentationFormat>
  <Paragraphs>58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Office-téma</vt:lpstr>
      <vt:lpstr>Haladó programozás nagyfeladat dokumentáció</vt:lpstr>
      <vt:lpstr>A program áttekintése</vt:lpstr>
      <vt:lpstr>A projekt felépítése és a felhasznált könyvtárak</vt:lpstr>
      <vt:lpstr>Felhasználói interakció és konfiguráció</vt:lpstr>
      <vt:lpstr>A fő vezérlő logika</vt:lpstr>
      <vt:lpstr>A képmódosító motor</vt:lpstr>
      <vt:lpstr>Szövegezés és tömeges feldolgozás</vt:lpstr>
      <vt:lpstr>Források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Haladó programozás nagyfeladat dokumentáció</dc:title>
  <dc:creator>Czégány Viktor</dc:creator>
  <cp:lastModifiedBy>Czégány Viktor</cp:lastModifiedBy>
  <cp:revision>4</cp:revision>
  <dcterms:created xsi:type="dcterms:W3CDTF">2025-12-03T23:12:57Z</dcterms:created>
  <dcterms:modified xsi:type="dcterms:W3CDTF">2025-12-10T20:33:43Z</dcterms:modified>
</cp:coreProperties>
</file>